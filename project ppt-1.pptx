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BEB0943C-6F6F-4075-874C-0561493E96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A4644A-9B7A-4D92-A59B-C3D36C9973C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EB599CC-3C25-43D8-9DA9-8CB90696093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3b742fc217068b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43b742fc217068b7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43b742fc217068b7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4d9bc32234d9b9d5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4d9bc32234d9b9d5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g4d9bc32234d9b9d5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"/>
          <p:cNvSpPr txBox="1"/>
          <p:nvPr/>
        </p:nvSpPr>
        <p:spPr>
          <a:xfrm>
            <a:off x="1309767" y="225399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UNIVERSITY OF AGRICULTURAL SCIENCES</a:t>
            </a:r>
            <a:endParaRPr sz="2400" b="1" i="0" u="none" strike="noStrike" cap="none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"/>
          <p:cNvSpPr txBox="1"/>
          <p:nvPr/>
        </p:nvSpPr>
        <p:spPr>
          <a:xfrm>
            <a:off x="2268087" y="775601"/>
            <a:ext cx="9144000" cy="5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GKVK, BANGALORE - 560065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9911" y="1416940"/>
            <a:ext cx="1834039" cy="164031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"/>
          <p:cNvSpPr txBox="1"/>
          <p:nvPr/>
        </p:nvSpPr>
        <p:spPr>
          <a:xfrm>
            <a:off x="2664405" y="3057252"/>
            <a:ext cx="9144000" cy="6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980000"/>
                </a:solidFill>
              </a:rPr>
              <a:t>College of Agriculture</a:t>
            </a:r>
            <a:endParaRPr sz="2400" b="1" i="0" u="none" strike="noStrike" cap="none" dirty="0">
              <a:solidFill>
                <a:srgbClr val="98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"/>
          <p:cNvSpPr txBox="1"/>
          <p:nvPr/>
        </p:nvSpPr>
        <p:spPr>
          <a:xfrm>
            <a:off x="0" y="3665352"/>
            <a:ext cx="8315324" cy="145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980000"/>
                </a:solidFill>
              </a:rPr>
              <a:t>                                    </a:t>
            </a: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COURSE: EAI421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                 Applications of AI &amp; ML in Agriculture</a:t>
            </a:r>
            <a:endParaRPr sz="2400" b="1" dirty="0">
              <a:solidFill>
                <a:schemeClr val="accent5">
                  <a:lumMod val="50000"/>
                </a:schemeClr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74320" y="54864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University of Agricultural Sciences, Bengaluru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93776" y="457200"/>
            <a:ext cx="8229600" cy="17830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" y="457200"/>
            <a:ext cx="73152" cy="178308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416052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Livestock Disease Prediction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Improved Agribusiness Profitability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15636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Random Forest Classifier  |  Python  |  Google Colaboratory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63149"/>
              </p:ext>
            </p:extLst>
          </p:nvPr>
        </p:nvGraphicFramePr>
        <p:xfrm>
          <a:off x="457200" y="2729484"/>
          <a:ext cx="8229600" cy="17297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rgbClr val="1F3864"/>
                        </a:solidFill>
                        <a:latin typeface="Times New Roman" pitchFamily="34" charset="0"/>
                        <a:ea typeface="Times New Roman" pitchFamily="34" charset="-122"/>
                        <a:cs typeface="Times New Roman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SUBMITTED BY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b="1" dirty="0">
                        <a:solidFill>
                          <a:srgbClr val="1F3864"/>
                        </a:solidFill>
                        <a:latin typeface="Times New Roman" pitchFamily="34" charset="0"/>
                        <a:ea typeface="Times New Roman" pitchFamily="34" charset="-122"/>
                        <a:cs typeface="Times New Roman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SUBMITTED TO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Achintya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 R (BMB2002)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Ambika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 A (BMB2007)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 err="1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Nikitha</a:t>
                      </a:r>
                      <a:r>
                        <a:rPr lang="en-US" sz="1100" baseline="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charset="0"/>
                          <a:cs typeface="Times New Roman" pitchFamily="34" charset="-120"/>
                        </a:rPr>
                        <a:t> M (BMB2033)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IV B.Sc. (Hons.) Agriculture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College of Agriculture, UAS-B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Dr.</a:t>
                      </a:r>
                      <a:r>
                        <a:rPr lang="en-US" sz="1100" baseline="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Kumar Raja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EAI-421: Applications of AI &amp; ML in Agriculture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University of Agricultural Sciences, Bengaluru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81888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Year 2025 - 2026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365760" y="621792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65760" y="62179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493776" y="62179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Introduction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65760" y="1115568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365760" y="111556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493776" y="111556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Problem Statement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65760" y="1609344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65760" y="160934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93776" y="160934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Motivation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65760" y="2103120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365760" y="2103120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93776" y="2103120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Objectives of the Project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365760" y="2596896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365760" y="2596896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93776" y="2596896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Field Data Collection — RAWE Programme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365760" y="3090672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365760" y="309067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493776" y="309067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Animals Treated and Observations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365760" y="3584448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"/>
          <p:cNvSpPr/>
          <p:nvPr/>
        </p:nvSpPr>
        <p:spPr>
          <a:xfrm>
            <a:off x="365760" y="358444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493776" y="358444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Dataset Overview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365760" y="4078224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365760" y="407822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"/>
          <p:cNvSpPr/>
          <p:nvPr/>
        </p:nvSpPr>
        <p:spPr>
          <a:xfrm>
            <a:off x="493776" y="407822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Feature Description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365760" y="4572000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365760" y="4572000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493776" y="4572000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  Methodology / Approach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4800600" y="621792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4800600" y="62179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4928616" y="62179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Algorithm — Random Forest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4800600" y="1115568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4800600" y="111556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4928616" y="111556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Tools and Technologies Used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800600" y="1609344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4800600" y="160934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4928616" y="160934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Results — Model Performance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800600" y="2103120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4800600" y="2103120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4928616" y="2103120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Results — Feature Importance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800600" y="2596896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4800600" y="2596896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4928616" y="2596896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 Results — Code Output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4800600" y="3090672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4800600" y="3090672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928616" y="3090672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 Discussion / Analysis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4800600" y="3584448"/>
            <a:ext cx="4160400" cy="42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"/>
          <p:cNvSpPr/>
          <p:nvPr/>
        </p:nvSpPr>
        <p:spPr>
          <a:xfrm>
            <a:off x="4800600" y="3584448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4928616" y="3584448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16. Conclusion and Future Work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800600" y="4078224"/>
            <a:ext cx="4160400" cy="420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4800600" y="4078224"/>
            <a:ext cx="54900" cy="420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4928616" y="4078224"/>
            <a:ext cx="39777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 References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                                                                                                                                   1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1.1  Background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411480" y="932688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Livestock farming is one of the most important sectors of Indian agriculture, supporting over 70 million rural households and contributing approximately 4.11% to the national GDP. India has the world's largest livestock population, comprising cattle, buffaloes, sheep, goats, and poultry.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11480" y="1737360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Diseases affecting livestock — such as Mastitis, Foot-and-Mouth Disease (FMD), and parasitic worm infestations — cause annual losses exceeding Rs. 26,000 crore in India. Early detection and timely treatment are the most effective means of reducing these losses.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11480" y="2542032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1.2  Need for AI-Based Prediction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11480" y="2871216"/>
            <a:ext cx="832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rural Karnataka, the number of qualified veterinary doctors available per animal is critically low. Farmers are therefore unable to get timely professional help. An AI-based prediction system that uses simple, measurable animal health parameters can fill this gap — flagging sick animals early, without requiring a vet to be physically present.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411480" y="384048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1.3  Scope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411480" y="4169664"/>
            <a:ext cx="83211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builds a Random Forest Classifier to predict whether a livestock animal is Healthy or Diseased, implemented in Python using Google Colaboratory.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— Project Overview                                                                                                2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this project do?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11480" y="932688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takes five easily measurable animal health parameters as input and predicts whether the animal is Healthy or Diseased. The prediction is made instantly using a trained Machine Learning model, without requiring laboratory tests or a vet visit.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11480" y="175564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Parameters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11480" y="2084832"/>
            <a:ext cx="832110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502920" y="2103120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 (degrees C)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160520" y="2103120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38 C   |   Diseased: 40 - 42 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11480" y="2615184"/>
            <a:ext cx="8321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502920" y="2633472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 (bpm)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160520" y="2633472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60 bpm  |   Diseased: 88 - 98 bpm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3145536"/>
            <a:ext cx="832110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02920" y="3163824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Level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160520" y="3163824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High             |   Diseased: 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11480" y="3675888"/>
            <a:ext cx="83211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02920" y="3694176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 Production (L/day)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60520" y="3694176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14 L    |   Diseased: 2 - 5 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11480" y="4206240"/>
            <a:ext cx="8321100" cy="457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502920" y="4224528"/>
            <a:ext cx="36576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Respiratory Rate (br/min)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4160520" y="4224528"/>
            <a:ext cx="43890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Normal: approx. 18      |   Diseased: 28 - 35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r>
              <a:rPr lang="en-US" sz="17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</a:t>
            </a:r>
            <a:r>
              <a:rPr lang="en-US" sz="1700" b="1" dirty="0">
                <a:solidFill>
                  <a:srgbClr val="FFFFFF"/>
                </a:solidFill>
                <a:latin typeface="Times New Roman"/>
                <a:ea typeface="Calibri"/>
                <a:cs typeface="Times New Roman"/>
                <a:sym typeface="Times New Roman"/>
              </a:rPr>
              <a:t>3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20040" y="594360"/>
            <a:ext cx="8503800" cy="877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20040" y="594360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20040" y="594360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005840" y="685800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 Disease Detection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005840" y="978408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Diseases like Mastitis and worm infestations show physiological signs days before visible symptoms. Without tools, farmers detect illness only after serious damage has occurred.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20040" y="1618488"/>
            <a:ext cx="8503800" cy="8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20040" y="1618488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20040" y="1618488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1005840" y="1709928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Non-Availability of Veterinary Doctors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05840" y="2002536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observed during my RAWE field programme at Kothanuru, Chikkaballapur, non-availability of veterinary doctors at all times was the most commonly reported challenge by farmers.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20040" y="2642616"/>
            <a:ext cx="8503800" cy="877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320040" y="2642616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20040" y="2642616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005840" y="2734056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Data-Driven Decision Support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05840" y="3026664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rely on traditional remedies without any scientific basis for assessing disease type or severity. No affordable digital tool currently exists for smallholder farmers in Karnataka.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0040" y="3666744"/>
            <a:ext cx="8503800" cy="87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20040" y="3666744"/>
            <a:ext cx="594300" cy="877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320040" y="3666744"/>
            <a:ext cx="5943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005840" y="3758184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Impact on Agribusiness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005840" y="4050792"/>
            <a:ext cx="76809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Sick animals produce less milk and meat, and may die. This directly reduces agribusiness income and profitability for farming households.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                                                                                                                                     4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"/>
          <p:cNvSpPr/>
          <p:nvPr/>
        </p:nvSpPr>
        <p:spPr>
          <a:xfrm>
            <a:off x="365730" y="949025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Field Experience — RAWE </a:t>
            </a:r>
            <a:r>
              <a:rPr lang="en-US" sz="1200" b="1" i="0" u="none" strike="noStrike" cap="none" dirty="0" err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"/>
          <p:cNvSpPr/>
          <p:nvPr/>
        </p:nvSpPr>
        <p:spPr>
          <a:xfrm>
            <a:off x="411480" y="1270340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During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RAWE field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participated in an Animal Health Camp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village,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Chikkaballapur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District.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personally observed farmers struggling with sick animals and no veterinary doctor available. This direct experience was the primary motivation for choosing this project topic.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"/>
          <p:cNvSpPr/>
          <p:nvPr/>
        </p:nvSpPr>
        <p:spPr>
          <a:xfrm>
            <a:off x="411420" y="2162537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Economic Necessity for Farmers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"/>
          <p:cNvSpPr/>
          <p:nvPr/>
        </p:nvSpPr>
        <p:spPr>
          <a:xfrm>
            <a:off x="457170" y="2501580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Livestock disease causes 15 to 20 percent productivity loss annually in Indian farms. Early AI-based detection enables timely treatment, reducing animal mortality and protecting the financial income of farming households.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"/>
          <p:cNvSpPr/>
          <p:nvPr/>
        </p:nvSpPr>
        <p:spPr>
          <a:xfrm>
            <a:off x="457170" y="333836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Accessibility of Machine Learning Tools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"/>
          <p:cNvSpPr/>
          <p:nvPr/>
        </p:nvSpPr>
        <p:spPr>
          <a:xfrm>
            <a:off x="457170" y="3671664"/>
            <a:ext cx="82296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tools such as Google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Colaboratory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publicly available datasets from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Kaggle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 a fully functional ML model to be built at zero cost. This project demonstrates that AI can be made practically useful even within academic constraints.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                                                                                                               5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365760" y="932688"/>
            <a:ext cx="8412600" cy="640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365760" y="932688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365760" y="932688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914400" y="960120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and validate a Random Forest Classifier that predicts livestock disease status (Healthy / Diseased) from five health parameters.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65760" y="1682496"/>
            <a:ext cx="8412600" cy="64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65760" y="1682496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365760" y="1682496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14400" y="1709928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the most important health indicators that predict disease using the model's built-in feature importance analysis.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5760" y="2432304"/>
            <a:ext cx="8412600" cy="6402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365760" y="2432304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65760" y="2432304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14400" y="2459736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model performance using Accuracy, Precision, Recall, F1-Score, and Confusion Matrix on a Kaggle livestock dataset.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65760" y="3182112"/>
            <a:ext cx="8412600" cy="64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365760" y="3182112"/>
            <a:ext cx="457200" cy="640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365760" y="3182112"/>
            <a:ext cx="4572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imes New Roman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914400" y="3209544"/>
            <a:ext cx="7772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practical agribusiness value: show that early detection reduces losses and improves farm profitability.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11480" y="3986784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Objectives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02920" y="4315968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 Gain hands-on experience with Python ML libraries: scikit-learn, pandas, NumPy, matplotlib, seaborn.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2920" y="4544568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 Visualise results using feature importance graphs and confusion matrix heatmaps.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7195" y="4773168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  Connect personal field observations from the Kothanuru RAWE camp with data-driven analysis.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Data Collection — RAWE Animal Health Camp                                                              6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411420" y="71337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 dirty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Data Collected During RAWE </a:t>
            </a:r>
            <a:r>
              <a:rPr lang="en-US" sz="1200" b="1" i="0" u="none" strike="noStrike" cap="none" dirty="0" err="1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11480" y="1005870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part of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RAWE field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participated in an Animal Health Camp conducted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village,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Chikkaballapur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District, Karnataka. </a:t>
            </a:r>
            <a:r>
              <a:rPr lang="en-US" sz="1200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collected first-hand data on animal health conditions, farmer challenges, and veterinary observations at this camp. These observations directly informed the design of this project.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8"/>
          <p:cNvGraphicFramePr/>
          <p:nvPr>
            <p:extLst>
              <p:ext uri="{D42A27DB-BD31-4B8C-83A1-F6EECF244321}">
                <p14:modId xmlns:p14="http://schemas.microsoft.com/office/powerpoint/2010/main" val="1557290893"/>
              </p:ext>
            </p:extLst>
          </p:nvPr>
        </p:nvGraphicFramePr>
        <p:xfrm>
          <a:off x="411480" y="1984248"/>
          <a:ext cx="8412475" cy="2240250"/>
        </p:xfrm>
        <a:graphic>
          <a:graphicData uri="http://schemas.openxmlformats.org/drawingml/2006/table">
            <a:tbl>
              <a:tblPr>
                <a:noFill/>
                <a:tableStyleId>{BEB0943C-6F6F-4075-874C-0561493E9689}</a:tableStyleId>
              </a:tblPr>
              <a:tblGrid>
                <a:gridCol w="292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Particulars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Kothanuru Village, Varadhanayaka Nahalli, Sidlagatta Taluk, Chikkaballapur District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Date of Camp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15th September 2025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 dirty="0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Students Participated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 students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Farmers Participated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 dirty="0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106 farmers</a:t>
                      </a:r>
                      <a:endParaRPr sz="11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Data — Animals Treated at the Camp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Animal Health Data Collected at Kothanuru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"/>
          <p:cNvSpPr/>
          <p:nvPr/>
        </p:nvSpPr>
        <p:spPr>
          <a:xfrm>
            <a:off x="365760" y="10058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Treatment 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6" name="Google Shape;446;p3"/>
          <p:cNvGraphicFramePr/>
          <p:nvPr/>
        </p:nvGraphicFramePr>
        <p:xfrm>
          <a:off x="365760" y="1325880"/>
          <a:ext cx="4023350" cy="1688605"/>
        </p:xfrm>
        <a:graphic>
          <a:graphicData uri="http://schemas.openxmlformats.org/drawingml/2006/table">
            <a:tbl>
              <a:tblPr>
                <a:noFill/>
                <a:tableStyleId>{19A4644A-9B7A-4D92-A59B-C3D36C9973C5}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Treatment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Animals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Vaccination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Deworming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Infertility Cases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36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7" name="Google Shape;447;p3"/>
          <p:cNvSpPr/>
          <p:nvPr/>
        </p:nvSpPr>
        <p:spPr>
          <a:xfrm>
            <a:off x="4754880" y="10058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Animals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8" name="Google Shape;448;p3"/>
          <p:cNvGraphicFramePr/>
          <p:nvPr/>
        </p:nvGraphicFramePr>
        <p:xfrm>
          <a:off x="4754880" y="1325880"/>
          <a:ext cx="4023350" cy="3474800"/>
        </p:xfrm>
        <a:graphic>
          <a:graphicData uri="http://schemas.openxmlformats.org/drawingml/2006/table">
            <a:tbl>
              <a:tblPr>
                <a:noFill/>
                <a:tableStyleId>{19A4644A-9B7A-4D92-A59B-C3D36C9973C5}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of Animal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Treated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Cattle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Buffaloes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Sheep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Goats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Poultry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Dogs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Calves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49" name="Google Shape;449;p3"/>
          <p:cNvSpPr/>
          <p:nvPr/>
        </p:nvSpPr>
        <p:spPr>
          <a:xfrm>
            <a:off x="365760" y="3127248"/>
            <a:ext cx="4023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animals attended at the camp: 303 and above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"/>
          <p:cNvSpPr/>
          <p:nvPr/>
        </p:nvSpPr>
        <p:spPr>
          <a:xfrm>
            <a:off x="365760" y="3520440"/>
            <a:ext cx="4023300" cy="13716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"/>
          <p:cNvSpPr/>
          <p:nvPr/>
        </p:nvSpPr>
        <p:spPr>
          <a:xfrm>
            <a:off x="365760" y="3520440"/>
            <a:ext cx="4023300" cy="274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"/>
          <p:cNvSpPr/>
          <p:nvPr/>
        </p:nvSpPr>
        <p:spPr>
          <a:xfrm>
            <a:off x="365760" y="352044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Awareness Activities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"/>
          <p:cNvSpPr/>
          <p:nvPr/>
        </p:nvSpPr>
        <p:spPr>
          <a:xfrm>
            <a:off x="457200" y="3840480"/>
            <a:ext cx="38406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Leaflets/Pamphlets Distributed: 317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Posters/Banners Displayed: 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Awareness Talks Delivered: Yes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Duration: 5 Hours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897"/>
            <a:ext cx="9144000" cy="51177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78C95F-DD6F-8442-393E-C04BFDFA99D1}"/>
              </a:ext>
            </a:extLst>
          </p:cNvPr>
          <p:cNvSpPr txBox="1"/>
          <p:nvPr/>
        </p:nvSpPr>
        <p:spPr>
          <a:xfrm>
            <a:off x="8567934" y="787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Data — Key Observations and Findings                                                                           8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Common Health Problems Observed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365760" y="932688"/>
            <a:ext cx="8412600" cy="5121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365760" y="932688"/>
            <a:ext cx="54900" cy="512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502920" y="950976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Indigestion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063240" y="950976"/>
            <a:ext cx="562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common problem observed in cattle and buffaloes at the camp.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65760" y="1527048"/>
            <a:ext cx="8412600" cy="51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65760" y="1527048"/>
            <a:ext cx="54900" cy="512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502920" y="1545336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Worm Infestation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063240" y="1545336"/>
            <a:ext cx="562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widely in sheep and goats. Most animals required deworming treatment.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65760" y="2121408"/>
            <a:ext cx="8412600" cy="5121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365760" y="2121408"/>
            <a:ext cx="54900" cy="5121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502920" y="2139696"/>
            <a:ext cx="2560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Mastitis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063240" y="2139696"/>
            <a:ext cx="562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Udder infection observed in dairy cattle, causing significant drop in milk production.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11480" y="276148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Reported by Farmers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11480" y="3090672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Non-availability of veterinary doctors at all times was the single most commonly reported challenge by all 106 farmers present. Farmers reported relying on local methods — neem with turmeric and garlic in neem oil for external wounds — due to the absence of professional veterinary support.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11480" y="3913632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to This Project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11480" y="4224528"/>
            <a:ext cx="83211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diseases observed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Indigestion, Worm infestations, and Mastitis — all produce measurable changes in body temperature, milk production, and activity level. These are precisely the features used in this AI model, validating its practical relevance.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 Overview                                                                                                                           9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4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Dataset — Kaggle Livestock Health and Disease Dataset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"/>
          <p:cNvSpPr/>
          <p:nvPr/>
        </p:nvSpPr>
        <p:spPr>
          <a:xfrm>
            <a:off x="411480" y="932688"/>
            <a:ext cx="83211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addition to primary observations from the RAWE camp, </a:t>
            </a: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</a:t>
            </a: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used a publicly available dataset from Kaggle for training the Machine Learning model. This dataset contains real animal health records with a binary label: Healthy (0) or Diseased (1).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1" name="Google Shape;461;p4"/>
          <p:cNvGraphicFramePr/>
          <p:nvPr/>
        </p:nvGraphicFramePr>
        <p:xfrm>
          <a:off x="365760" y="1664208"/>
          <a:ext cx="8412475" cy="3264450"/>
        </p:xfrm>
        <a:graphic>
          <a:graphicData uri="http://schemas.openxmlformats.org/drawingml/2006/table">
            <a:tbl>
              <a:tblPr>
                <a:noFill/>
                <a:tableStyleId>{19A4644A-9B7A-4D92-A59B-C3D36C9973C5}</a:tableStyleId>
              </a:tblPr>
              <a:tblGrid>
                <a:gridCol w="310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Parameter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Details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Source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Kaggle — Livestock Health and Disease Dataset (free public download)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Records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Approximately 1,500 animal health records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Number of Features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input features + 1 target label (Disease Status)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Variable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Disease Status: 0 = Healthy,  1 = Diseased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Train-Test Split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 Training / 20% Testing  (random_state = 42)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b="1" u="none" strike="noStrike" cap="none">
                          <a:solidFill>
                            <a:srgbClr val="1F3864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 Format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u="none" strike="noStrike" cap="none"/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CSV (.csv) — loaded using pandas read_csv()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535" y="152399"/>
            <a:ext cx="8510929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E36B27-D630-AE79-9783-C43AE699D14D}"/>
              </a:ext>
            </a:extLst>
          </p:cNvPr>
          <p:cNvSpPr txBox="1"/>
          <p:nvPr/>
        </p:nvSpPr>
        <p:spPr>
          <a:xfrm>
            <a:off x="8328074" y="24618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IN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/ Approach — Workflow                                                                                      11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320040" y="594360"/>
            <a:ext cx="4114800" cy="132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320040" y="594360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411480" y="59436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  Collect Dataset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29768" y="1014984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Livestock Health Dataset from Kaggle (CSV, 1,500 records)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754880" y="594360"/>
            <a:ext cx="4114800" cy="1326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754880" y="594360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4846320" y="594360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 Preprocess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4864608" y="1014984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missing values (dropna), encode Activity Level using LabelEncoder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20040" y="2075688"/>
            <a:ext cx="4114800" cy="132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320040" y="2075688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411480" y="207568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  Train RF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429768" y="2496312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Random Forest Classifier — 100 trees, 80/20 train-test split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754880" y="2075688"/>
            <a:ext cx="4114800" cy="1326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4754880" y="2075688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4846320" y="2075688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  Evaluate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864608" y="2496312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Accuracy, Precision, Recall, F1-Score, plot Confusion Matrix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320040" y="3557016"/>
            <a:ext cx="4114800" cy="1326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320040" y="3557016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411480" y="355701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  Feature Importance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29768" y="3977640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which health parameter contributes most to prediction 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754880" y="3557016"/>
            <a:ext cx="4114800" cy="1326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4754880" y="3557016"/>
            <a:ext cx="4114800" cy="347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4846320" y="3557016"/>
            <a:ext cx="3931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  Predict and Advise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4864608" y="3977640"/>
            <a:ext cx="38952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new animal data — model outputs Healthy or Diseased with probability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4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— Random Forest Classifier                                                                                    12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Random Forest?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411480" y="932688"/>
            <a:ext cx="8321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is an ensemble learning algorithm that builds a large number of Decision Trees during training. Each tree is built on a random subset of the data (bootstrap sampling). For classification, the final prediction is determined by majority vote across all trees.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11480" y="175564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Random Forest for this project?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65760" y="2103120"/>
            <a:ext cx="8412600" cy="4023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365760" y="2103120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512064" y="2103120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both continuous (temperature, heart rate) and categorical (activity level) features without extra preprocessing.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365760" y="2578608"/>
            <a:ext cx="84126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365760" y="2578608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512064" y="2578608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Robust to noise — the ensemble majority vote reduces errors from individual trees.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365760" y="3054096"/>
            <a:ext cx="8412600" cy="4023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365760" y="3054096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512064" y="3054096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require feature scaling, unlike SVM or Neural Networks.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365760" y="3529584"/>
            <a:ext cx="84126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365760" y="3529584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512064" y="3529584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built-in Feature Importance scores — clearly shows which health parameter drives disease prediction.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365760" y="4005072"/>
            <a:ext cx="8412600" cy="4023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365760" y="4005072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512064" y="4005072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Achieves 90 to 95 percent accuracy on animal health classification tasks as documented in recent research.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365760" y="4480560"/>
            <a:ext cx="84126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365760" y="4480560"/>
            <a:ext cx="54900" cy="4023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512064" y="4480560"/>
            <a:ext cx="8193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to implement using scikit-learn in Python — suitable for beginner-level coding.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6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 Used                                                                                                       13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6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72" name="Google Shape;472;p6"/>
          <p:cNvGraphicFramePr/>
          <p:nvPr/>
        </p:nvGraphicFramePr>
        <p:xfrm>
          <a:off x="320040" y="594360"/>
          <a:ext cx="8503925" cy="4361625"/>
        </p:xfrm>
        <a:graphic>
          <a:graphicData uri="http://schemas.openxmlformats.org/drawingml/2006/table">
            <a:tbl>
              <a:tblPr>
                <a:noFill/>
                <a:tableStyleId>{7EB599CC-3C25-43D8-9DA9-8CB906960935}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Tool / Library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3.x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Primary programming language — simple syntax, rich ML libraries.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 Colaboratory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 cloud-based Jupyter Notebook environment. No installation required.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pandas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loading, cleaning, and preprocessing of the CSV dataset.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scikit-learn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RandomForestClassifier, train_test_split, accuracy_score, classification_report.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matplotlib / seaborn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Confusion matrix heatmap, feature importance bar chart, class distribution plot.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NumPy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Numerical operations underlying pandas and scikit-learn.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Kaggle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 of the Livestock Health and Disease Dataset — free public download.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5A8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b="1" u="none" strike="noStrike" cap="none">
                          <a:solidFill>
                            <a:srgbClr val="3D5A8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Google Drive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Times New Roman"/>
                        <a:buNone/>
                        <a:defRPr sz="14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lang="en-US" sz="1100" u="none" strike="noStrike" cap="non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and notebook storage, backup, and version management.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Model Performance Metrics                                                                                     14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on 20% Test Set (300 records, random_state = 42)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320040" y="1005840"/>
            <a:ext cx="8503800" cy="822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320040" y="100584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347472" y="107899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347472" y="138988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92.4%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2651760" y="120700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correctly classified 92.4% of all animals in the test set.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320040" y="1965960"/>
            <a:ext cx="85038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320040" y="196596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347472" y="203911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347472" y="235000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91.8%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2651760" y="216712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all animals predicted as diseased, 91.8% were genuinely diseased.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320040" y="2926080"/>
            <a:ext cx="8503800" cy="822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320040" y="292608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347472" y="299923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(Sensitivity)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347472" y="331012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93.1%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2651760" y="312724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93.1% of all actually diseased animals were correctly identified.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320040" y="3886200"/>
            <a:ext cx="8503800" cy="82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320040" y="3886200"/>
            <a:ext cx="2194500" cy="822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347472" y="3959352"/>
            <a:ext cx="213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347472" y="4270248"/>
            <a:ext cx="2139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D8F0"/>
              </a:buClr>
              <a:buSzPts val="2000"/>
              <a:buFont typeface="Times New Roman"/>
              <a:buNone/>
            </a:pPr>
            <a:r>
              <a:rPr lang="en-US" sz="2000" b="1" i="0" u="none" strike="noStrike" cap="none">
                <a:solidFill>
                  <a:srgbClr val="C9D8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92.4%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2651760" y="4087368"/>
            <a:ext cx="6035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Harmonic mean of Precision and Recall — indicates well-balanced performance.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320090" y="4782383"/>
            <a:ext cx="85038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Times New Roman"/>
              <a:buNone/>
            </a:pPr>
            <a:r>
              <a:rPr lang="en-US" sz="1000" b="0" i="1" u="none" strike="noStrike" cap="none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Accuracy: approx. 97%   |   Minimal overfitting observed   |   Strong generalisation to unseen data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Feature Importance Analysis                                                                                   15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health parameter contributes most to disease prediction?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411480" y="932688"/>
            <a:ext cx="83211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Random Forest model assigns an importance score to each input feature, indicating how much it contributes to accurate prediction. Higher score means greater predictive value.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365760" y="1572768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3017520" y="1719072"/>
            <a:ext cx="52668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8394192" y="157276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0.32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6"/>
          <p:cNvSpPr/>
          <p:nvPr/>
        </p:nvSpPr>
        <p:spPr>
          <a:xfrm>
            <a:off x="365760" y="2194560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Milk Production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3017520" y="2340864"/>
            <a:ext cx="39501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7077456" y="219456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365760" y="2816352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Heart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3017520" y="2962656"/>
            <a:ext cx="32919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6"/>
          <p:cNvSpPr/>
          <p:nvPr/>
        </p:nvSpPr>
        <p:spPr>
          <a:xfrm>
            <a:off x="6419088" y="2816352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0.20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365760" y="3438144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Activity Level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3017520" y="3584448"/>
            <a:ext cx="23043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5431536" y="3438144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365760" y="4059936"/>
            <a:ext cx="256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Respiratory Rate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3017520" y="4206240"/>
            <a:ext cx="1645800" cy="25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6"/>
          <p:cNvSpPr/>
          <p:nvPr/>
        </p:nvSpPr>
        <p:spPr>
          <a:xfrm>
            <a:off x="4773168" y="4059936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0.10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365760" y="4736592"/>
            <a:ext cx="54900" cy="274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457189" y="471378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Body Temperature is the most important predictor — fever is the primary physiological sign of infection in livestock.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— Sample Code Output (Google </a:t>
            </a:r>
            <a:r>
              <a:rPr lang="en-US" sz="1700" b="1" i="0" u="none" strike="noStrike" cap="none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Colaboratory</a:t>
            </a: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                                                        16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548520" y="745427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Times New Roman"/>
              <a:buNone/>
            </a:pPr>
            <a:r>
              <a:rPr lang="en-US" sz="1200" b="0" i="1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output was produced when the Python code was executed in Google </a:t>
            </a:r>
            <a:r>
              <a:rPr lang="en-US" sz="1200" b="0" i="1" u="none" strike="noStrike" cap="none" dirty="0" err="1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Colaboratory</a:t>
            </a:r>
            <a:r>
              <a:rPr lang="en-US" sz="1200" b="0" i="1" u="none" strike="noStrike" cap="none" dirty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816651-6EDE-5CE5-6BC2-D400E1AAA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69" y="1262255"/>
            <a:ext cx="6548511" cy="3071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345461-D285-681A-5448-F06FF880F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062" y="491486"/>
            <a:ext cx="7702062" cy="38899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CD7348-FAB6-1F93-2004-E5CF0BFAB5EC}"/>
              </a:ext>
            </a:extLst>
          </p:cNvPr>
          <p:cNvSpPr txBox="1"/>
          <p:nvPr/>
        </p:nvSpPr>
        <p:spPr>
          <a:xfrm>
            <a:off x="8336772" y="20398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094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8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 / Analysis                                                                                                                    18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8"/>
          <p:cNvSpPr/>
          <p:nvPr/>
        </p:nvSpPr>
        <p:spPr>
          <a:xfrm>
            <a:off x="411480" y="59436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Performance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502920" y="86868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accuracy of 92.4% and recall of 93.1% confirm that the Random Forest Classifier is reliable for livestock disease prediction. Recall is particularly critical here — failing to detect a sick animal carries a higher cost than a false alarm, since undetected disease can spread to the entire herd.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411480" y="1709928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Connection to Personal Field Observations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502920" y="1984248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three diseases we observed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— Mastitis, Worm infestations, and Indigestion — all cause measurable changes in body temperature, milk production, and activity level. These are precisely the top three features in the model (importance: 0.32, 0.24, 0.20), validating the real-world relevance of this approach.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411480" y="2825496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Agribusiness Value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502920" y="3099816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106 farmers we met at </a:t>
            </a:r>
            <a:r>
              <a:rPr lang="en-US" sz="120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Kothanuru</a:t>
            </a:r>
            <a:r>
              <a:rPr lang="en-US" sz="120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early disease detection translates directly to preserved milk yield, lower treatment costs, and reduced animal mortality — all of which improve agribusiness profitability.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411480" y="3941064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502920" y="4215384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model predicts Healthy or Diseased only — it does not identify the specific disease type. The Kaggle dataset may not fully represent Karnataka livestock breeds. Future work should incorporate locally collected field data from RAWE camps.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7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Work                                                                                                     19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7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7"/>
          <p:cNvSpPr/>
          <p:nvPr/>
        </p:nvSpPr>
        <p:spPr>
          <a:xfrm>
            <a:off x="411480" y="59436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7"/>
          <p:cNvSpPr/>
          <p:nvPr/>
        </p:nvSpPr>
        <p:spPr>
          <a:xfrm>
            <a:off x="411480" y="932688"/>
            <a:ext cx="832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Times New Roman"/>
              <a:buNone/>
            </a:pPr>
            <a:r>
              <a:rPr lang="en-US" sz="12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successfully developed an AI-based livestock disease prediction system using a Random Forest Classifier, achieving 92.4% accuracy on a Kaggle dataset of 1,500 animal health records. The project was motivated by direct field observations collected during the RAWE Animal Health Camp at Kothanuru village, Chikkaballapur District </a:t>
            </a:r>
            <a:r>
              <a:rPr lang="en-US" sz="12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/>
          <p:nvPr/>
        </p:nvSpPr>
        <p:spPr>
          <a:xfrm>
            <a:off x="411480" y="1920240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Times New Roman"/>
              <a:buNone/>
            </a:pPr>
            <a:r>
              <a:rPr lang="en-US" sz="1200" b="1" i="0" u="none" strike="noStrike" cap="none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7"/>
          <p:cNvSpPr/>
          <p:nvPr/>
        </p:nvSpPr>
        <p:spPr>
          <a:xfrm>
            <a:off x="365760" y="2286000"/>
            <a:ext cx="8412600" cy="438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7"/>
          <p:cNvSpPr/>
          <p:nvPr/>
        </p:nvSpPr>
        <p:spPr>
          <a:xfrm>
            <a:off x="365760" y="2286000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7"/>
          <p:cNvSpPr/>
          <p:nvPr/>
        </p:nvSpPr>
        <p:spPr>
          <a:xfrm>
            <a:off x="502920" y="2286000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Extend to multi-class classification to identify specific disease types such as Mastitis, FMD, and worm infestations.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7"/>
          <p:cNvSpPr/>
          <p:nvPr/>
        </p:nvSpPr>
        <p:spPr>
          <a:xfrm>
            <a:off x="365760" y="2798064"/>
            <a:ext cx="8412600" cy="43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7"/>
          <p:cNvSpPr/>
          <p:nvPr/>
        </p:nvSpPr>
        <p:spPr>
          <a:xfrm>
            <a:off x="365760" y="2798064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7"/>
          <p:cNvSpPr/>
          <p:nvPr/>
        </p:nvSpPr>
        <p:spPr>
          <a:xfrm>
            <a:off x="502920" y="2798064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Collect animal health data from RAWE camps across Karnataka to build a region-specific training dataset.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7"/>
          <p:cNvSpPr/>
          <p:nvPr/>
        </p:nvSpPr>
        <p:spPr>
          <a:xfrm>
            <a:off x="365760" y="3310128"/>
            <a:ext cx="8412600" cy="438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7"/>
          <p:cNvSpPr/>
          <p:nvPr/>
        </p:nvSpPr>
        <p:spPr>
          <a:xfrm>
            <a:off x="365760" y="3310128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7"/>
          <p:cNvSpPr/>
          <p:nvPr/>
        </p:nvSpPr>
        <p:spPr>
          <a:xfrm>
            <a:off x="502920" y="331012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Integrate low-cost IoT sensors for automated, real-time health monitoring on individual farms.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7"/>
          <p:cNvSpPr/>
          <p:nvPr/>
        </p:nvSpPr>
        <p:spPr>
          <a:xfrm>
            <a:off x="365760" y="3822192"/>
            <a:ext cx="8412600" cy="43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7"/>
          <p:cNvSpPr/>
          <p:nvPr/>
        </p:nvSpPr>
        <p:spPr>
          <a:xfrm>
            <a:off x="365760" y="3822192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7"/>
          <p:cNvSpPr/>
          <p:nvPr/>
        </p:nvSpPr>
        <p:spPr>
          <a:xfrm>
            <a:off x="502920" y="3822192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Develop a Kannada-language mobile application to make disease prediction accessible to rural farmers.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7"/>
          <p:cNvSpPr/>
          <p:nvPr/>
        </p:nvSpPr>
        <p:spPr>
          <a:xfrm>
            <a:off x="365760" y="4334256"/>
            <a:ext cx="8412600" cy="4389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"/>
          <p:cNvSpPr/>
          <p:nvPr/>
        </p:nvSpPr>
        <p:spPr>
          <a:xfrm>
            <a:off x="365760" y="4334256"/>
            <a:ext cx="54900" cy="438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7"/>
          <p:cNvSpPr/>
          <p:nvPr/>
        </p:nvSpPr>
        <p:spPr>
          <a:xfrm>
            <a:off x="502920" y="4334256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Times New Roman"/>
              <a:buNone/>
            </a:pPr>
            <a:r>
              <a:rPr lang="en-US" sz="110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Evaluate advanced algorithms such as XGBoost and LSTM for improved performance on time-series data.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/>
          <p:nvPr/>
        </p:nvSpPr>
        <p:spPr>
          <a:xfrm>
            <a:off x="0" y="0"/>
            <a:ext cx="9144000" cy="502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20"/>
          <p:cNvSpPr/>
          <p:nvPr/>
        </p:nvSpPr>
        <p:spPr>
          <a:xfrm>
            <a:off x="274320" y="0"/>
            <a:ext cx="8595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imes New Roman"/>
              <a:buNone/>
            </a:pPr>
            <a:r>
              <a:rPr lang="en-US" sz="17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                                                                                                                                    20 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0" y="5093208"/>
            <a:ext cx="9144000" cy="50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411420" y="1019556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Panigrahy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B. et al. (2025). Comparative Analysis of ML and Deep Learning for Animal Disease Prediction. MDPI Engineering Proceedings, 124(1), 52.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/>
          <p:nvPr/>
        </p:nvSpPr>
        <p:spPr>
          <a:xfrm>
            <a:off x="411420" y="1552766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Fragulis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G.F. et al. (2025). Cattle Disease Prediction Using Machine Learning Algorithms. MDPI Engineering Proceedings, 107(1), 85.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411420" y="2036796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Swapna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et al. (2025). Using AI and ML for Early Detection of Cattle Diseases. International Research Journal of Education and Technology.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411420" y="2578227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 Magana, A. et al. (2023). ML Approaches to Predict Digital Dermatitis in Dairy Cows Using Sensor Data. Frontiers in Veterinary Science, PMC10722090.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411420" y="3010662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 </a:t>
            </a:r>
            <a:r>
              <a:rPr lang="en-US" sz="1050" b="0" i="0" u="none" strike="noStrike" cap="none" dirty="0" err="1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Anitha</a:t>
            </a:r>
            <a:r>
              <a:rPr lang="en-US" sz="1050" b="0" i="0" u="none" strike="noStrike" cap="none" dirty="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Rao et al. (2023). Cattle Disease Prediction Using Artificial Intelligence. IJRASET. DOI: 10.22214/ijraset.2023.50535.</a:t>
            </a:r>
            <a:endParaRPr sz="10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11420" y="3424428"/>
            <a:ext cx="832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 Kaggle Inc. (2024). Livestock Health and Disease Dataset. https://www.kaggle.com/datasets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Thank You So Much&quot; Images – Browse 333 Stock Photos, Vectors, and Video |  Adobe Stock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3350" y="-40821"/>
            <a:ext cx="9277350" cy="533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02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